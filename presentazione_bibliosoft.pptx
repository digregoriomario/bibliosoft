
<file path=[Content_Types].xml><?xml version="1.0" encoding="utf-8"?>
<Types xmlns="http://schemas.openxmlformats.org/package/2006/content-types"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65" r:id="rId4"/>
    <p:sldId id="259" r:id="rId5"/>
    <p:sldId id="260" r:id="rId6"/>
    <p:sldId id="261" r:id="rId7"/>
    <p:sldId id="267" r:id="rId8"/>
    <p:sldId id="266" r:id="rId9"/>
    <p:sldId id="268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97B0"/>
    <a:srgbClr val="174B51"/>
    <a:srgbClr val="0B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8240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7D27-694D-67DB-1B1D-C342076A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9797DC-B2BE-3706-CB81-0B498EDC97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65611-BA99-E603-ECB7-39611BE0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2BA1-D63C-0CDF-0855-564B77E869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56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CDCAB-17AC-C538-349D-506461F8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53D3C-1CF3-E5EF-09A7-27657439D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3EA66-D8B3-19AE-A566-29DB35907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92ABA-2374-FB3A-2162-F9662FD9B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218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F537C-6123-CF41-DA4A-E75AEEF3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B7EC9-F201-A4A3-D7DD-E553C4246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58E42-EF22-0CDF-0ED9-AFB973794B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8668F-774D-9E35-D093-2AB47A6C7C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6466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580A2-649D-CC72-E2A9-152F3F0A7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5F1C4-6DDF-4D43-10F9-55ED620A32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D4B495-B579-9ACA-50AE-1863A0BC3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858EC-714D-6FC1-A93A-8457D79AE5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98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digregoriomario/bibliosoft.gi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80160"/>
            <a:ext cx="676656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1188720" y="160020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Bibliosoft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188720" y="242316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5E7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Gestionale Biblioteca Universitaria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88720" y="2788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17 • JavaFX • Maven • JUnit 5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40529" y="3246120"/>
            <a:ext cx="5854632" cy="1325880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417320" y="3478287"/>
            <a:ext cx="3729269" cy="82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it-IT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Autori:</a:t>
            </a:r>
            <a:b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</a:br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Franco Graziuso - Mario Di Gregorio</a:t>
            </a:r>
            <a:b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</a:br>
            <a:r>
              <a:rPr lang="it-IT" sz="1600" dirty="0">
                <a:solidFill>
                  <a:schemeClr val="bg1"/>
                </a:solidFill>
                <a:latin typeface="Segoe UI Variable Display Light" pitchFamily="2" charset="0"/>
                <a:cs typeface="Segoe UI" panose="020B0502040204020203" pitchFamily="34" charset="0"/>
              </a:rPr>
              <a:t>Gabriele Alfano - Angelo Ambrosio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461772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Progetto di Ingegneria del Software (2025) – Gruppo 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1280160"/>
            <a:ext cx="310896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50800" dist="254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8503920" y="15087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Logo</a:t>
            </a:r>
            <a:endParaRPr lang="en-US" sz="1200" dirty="0"/>
          </a:p>
        </p:txBody>
      </p:sp>
      <p:pic>
        <p:nvPicPr>
          <p:cNvPr id="11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920239"/>
            <a:ext cx="2651760" cy="2651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503920" y="4617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 app per la gestione di libri, utenti e prestiti.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1/9</a:t>
            </a:r>
            <a:endParaRPr lang="en-US" sz="1000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38EB893-3FC4-7A0C-590D-CF6EBEF4DA99}"/>
              </a:ext>
            </a:extLst>
          </p:cNvPr>
          <p:cNvSpPr txBox="1"/>
          <p:nvPr/>
        </p:nvSpPr>
        <p:spPr>
          <a:xfrm>
            <a:off x="3015049" y="5922169"/>
            <a:ext cx="521455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>
                <a:solidFill>
                  <a:schemeClr val="bg1"/>
                </a:solidFill>
                <a:latin typeface="Aptos" panose="020B0004020202020204" pitchFamily="34" charset="0"/>
              </a:rPr>
              <a:t>Collegamento GitHub</a:t>
            </a:r>
            <a:br>
              <a:rPr lang="it-IT" dirty="0"/>
            </a:br>
            <a:r>
              <a:rPr lang="it-IT" dirty="0">
                <a:hlinkClick r:id="rId4"/>
              </a:rPr>
              <a:t>https://github.com/digregoriomario/bibliosoft.git</a:t>
            </a:r>
            <a:endParaRPr lang="it-IT" dirty="0"/>
          </a:p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funzionali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Cosa deve fare il sistema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4"/>
          <p:cNvSpPr/>
          <p:nvPr/>
        </p:nvSpPr>
        <p:spPr>
          <a:xfrm>
            <a:off x="548640" y="1069848"/>
            <a:ext cx="5318608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822960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libri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68680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Inserimento / modifica /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cancellazione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 ordinate per titolo.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Ricerca per titolo, autore, ISBN.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6324447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6324448" y="1069848"/>
            <a:ext cx="5318608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598768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utenti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644488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Inserimento / modifica /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cancellazione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 ordinate per cognome e nome.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Ricerca per cognome o matricola.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48640" y="3999141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548640" y="3995928"/>
            <a:ext cx="5318608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822960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Gestione prestiti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68680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Registrazione prestito: verifica disponibilità copie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Restituzione: chiusura prestito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ripristino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Monitoraggio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ritardi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Storico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6324448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6"/>
          <p:cNvSpPr/>
          <p:nvPr/>
        </p:nvSpPr>
        <p:spPr>
          <a:xfrm>
            <a:off x="6324448" y="3995928"/>
            <a:ext cx="5318608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6598768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Archivio &amp; statistiche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6644488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Salvataggio manuale e caricamento automatico all’avvio.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Chiusura controllata: richiesta di salvataggio se ci sono modifiche.</a:t>
            </a:r>
            <a:endParaRPr lang="en-US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statistiche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libri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2/9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B3CF1A-E6F7-7DC6-DD99-71070DEDF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8C5C94C-9B1F-EA9C-8E9B-C6F6989051BE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D3623B-0900-5AB1-A362-1E3013D8EAB6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non </a:t>
            </a:r>
            <a:r>
              <a:rPr lang="en-US" sz="28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funzionali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6208602-F105-78B3-FEE0-BB6A25E2647F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 il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farlo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0291D0CB-A11F-A6ED-6738-D9D0EDD91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A4B1879F-57F4-17E3-F9AD-C7DCB9888DE6}"/>
              </a:ext>
            </a:extLst>
          </p:cNvPr>
          <p:cNvSpPr/>
          <p:nvPr/>
        </p:nvSpPr>
        <p:spPr>
          <a:xfrm>
            <a:off x="548640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622B0DE-E909-892F-EB89-80A204BE80C8}"/>
              </a:ext>
            </a:extLst>
          </p:cNvPr>
          <p:cNvSpPr/>
          <p:nvPr/>
        </p:nvSpPr>
        <p:spPr>
          <a:xfrm>
            <a:off x="548640" y="1069848"/>
            <a:ext cx="5318608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93175A9-AA0C-EFAB-4022-C79F3E3A1FE1}"/>
              </a:ext>
            </a:extLst>
          </p:cNvPr>
          <p:cNvSpPr/>
          <p:nvPr/>
        </p:nvSpPr>
        <p:spPr>
          <a:xfrm>
            <a:off x="822960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Usabilità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interfaccia</a:t>
            </a:r>
            <a:endParaRPr lang="en-US" sz="2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ADCD6-F3F6-E073-09EE-2D51DCB6CB3F}"/>
              </a:ext>
            </a:extLst>
          </p:cNvPr>
          <p:cNvSpPr/>
          <p:nvPr/>
        </p:nvSpPr>
        <p:spPr>
          <a:xfrm>
            <a:off x="868680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L’interfaccia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del software è in lingua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italiana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 software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possibili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tramite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messaggi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Vengono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utilizzate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intuitive.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727E051-E68D-848C-7EDE-2A9C1293DF34}"/>
              </a:ext>
            </a:extLst>
          </p:cNvPr>
          <p:cNvSpPr/>
          <p:nvPr/>
        </p:nvSpPr>
        <p:spPr>
          <a:xfrm>
            <a:off x="6324447" y="106984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FDDCDF08-A06B-6A83-1951-B936206336AE}"/>
              </a:ext>
            </a:extLst>
          </p:cNvPr>
          <p:cNvSpPr/>
          <p:nvPr/>
        </p:nvSpPr>
        <p:spPr>
          <a:xfrm>
            <a:off x="6324448" y="1069848"/>
            <a:ext cx="5318608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D392776-492B-E92F-FA66-497B05A63A2B}"/>
              </a:ext>
            </a:extLst>
          </p:cNvPr>
          <p:cNvSpPr/>
          <p:nvPr/>
        </p:nvSpPr>
        <p:spPr>
          <a:xfrm>
            <a:off x="6598768" y="1234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Prestazioni</a:t>
            </a:r>
            <a:endParaRPr lang="en-US" sz="24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3CE5A25-C388-7C5F-FCF9-B21C07ACA786}"/>
              </a:ext>
            </a:extLst>
          </p:cNvPr>
          <p:cNvSpPr/>
          <p:nvPr/>
        </p:nvSpPr>
        <p:spPr>
          <a:xfrm>
            <a:off x="6644488" y="163677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Le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operazioni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di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ricerca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e aggiornamento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dati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deve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essere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interiore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a cinque secondi.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4053C00-F949-FEFF-4593-58E8DEFCEBBF}"/>
              </a:ext>
            </a:extLst>
          </p:cNvPr>
          <p:cNvSpPr/>
          <p:nvPr/>
        </p:nvSpPr>
        <p:spPr>
          <a:xfrm>
            <a:off x="548640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04893B7-3D6D-E4FC-BDD0-CB59CE20D501}"/>
              </a:ext>
            </a:extLst>
          </p:cNvPr>
          <p:cNvSpPr/>
          <p:nvPr/>
        </p:nvSpPr>
        <p:spPr>
          <a:xfrm>
            <a:off x="548640" y="3995928"/>
            <a:ext cx="5318608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6DBEB87-4A64-657C-DAB8-FC1785CE7E05}"/>
              </a:ext>
            </a:extLst>
          </p:cNvPr>
          <p:cNvSpPr/>
          <p:nvPr/>
        </p:nvSpPr>
        <p:spPr>
          <a:xfrm>
            <a:off x="822960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Affidabilità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Persistenza</a:t>
            </a:r>
            <a:endParaRPr lang="en-US" sz="2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016AFEC-27C8-E5C0-DF3D-8C0D4A3BF2CD}"/>
              </a:ext>
            </a:extLst>
          </p:cNvPr>
          <p:cNvSpPr/>
          <p:nvPr/>
        </p:nvSpPr>
        <p:spPr>
          <a:xfrm>
            <a:off x="868680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Controllo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dell’eccezioni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critiche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366FB78E-F1E3-7B9B-0B60-30801DF48334}"/>
              </a:ext>
            </a:extLst>
          </p:cNvPr>
          <p:cNvSpPr/>
          <p:nvPr/>
        </p:nvSpPr>
        <p:spPr>
          <a:xfrm>
            <a:off x="6324448" y="3995928"/>
            <a:ext cx="5318608" cy="251460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A578D54-C3C7-634A-59FB-C1DCBE8D7693}"/>
              </a:ext>
            </a:extLst>
          </p:cNvPr>
          <p:cNvSpPr/>
          <p:nvPr/>
        </p:nvSpPr>
        <p:spPr>
          <a:xfrm>
            <a:off x="6324448" y="3995928"/>
            <a:ext cx="5318608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1F187A6-95F1-4B59-D732-5BB0ADF6D301}"/>
              </a:ext>
            </a:extLst>
          </p:cNvPr>
          <p:cNvSpPr/>
          <p:nvPr/>
        </p:nvSpPr>
        <p:spPr>
          <a:xfrm>
            <a:off x="6598768" y="416052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Portabilità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requisiti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di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4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E7E6495-A40D-2395-23D2-2532658949EE}"/>
              </a:ext>
            </a:extLst>
          </p:cNvPr>
          <p:cNvSpPr/>
          <p:nvPr/>
        </p:nvSpPr>
        <p:spPr>
          <a:xfrm>
            <a:off x="6644488" y="4562856"/>
            <a:ext cx="46785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Il software è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comatibile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con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principali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sistemi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operative.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Il software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può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essere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eseguito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su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</a:rPr>
              <a:t>configuazioni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</a:rPr>
              <a:t> base. </a:t>
            </a:r>
            <a:endParaRPr lang="en-US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52EF521-34DE-28C0-8B5F-3690199C19AF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49832B0-CF6F-0874-3FDC-7428783E080D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3/9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001161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Casi d’uso principali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Dal punto di vista del bibliotecario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033272"/>
            <a:ext cx="58064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868680" y="125272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Scenari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</a:rPr>
              <a:t>Principali</a:t>
            </a: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 UC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1709928"/>
            <a:ext cx="51358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Dashboard: riepilogo statistiche (prestiti in corso/ritardo/conclusi).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Libri: inserisci, modifica, elimina, ricerca.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Utenti: inserisci, modifica, elimina, ricerca, storico.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Prestiti: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prestito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restituzione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 monitoraggio ritardi.</a:t>
            </a:r>
            <a:endParaRPr lang="en-US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Archivio: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salva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</a:t>
            </a:r>
            <a:r>
              <a:rPr lang="en-US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gestisci chiusura applicazione.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6629400" y="1069848"/>
            <a:ext cx="5013655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903720" y="1252728"/>
            <a:ext cx="4465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casi d’uso: Libri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4/9</a:t>
            </a:r>
            <a:endParaRPr lang="en-US" sz="1000" dirty="0"/>
          </a:p>
        </p:txBody>
      </p:sp>
      <p:pic>
        <p:nvPicPr>
          <p:cNvPr id="17" name="Immagine 16" descr="Immagine che contiene testo, diagramma, disegno, schizzo&#10;&#10;Il contenuto generato dall'IA potrebbe non essere corretto.">
            <a:extLst>
              <a:ext uri="{FF2B5EF4-FFF2-40B4-BE49-F238E27FC236}">
                <a16:creationId xmlns:a16="http://schemas.microsoft.com/office/drawing/2014/main" id="{3EBD71C6-1545-DE7C-76EF-B442A50747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836" y="2830465"/>
            <a:ext cx="4894782" cy="20072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Architettura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Separazione GUI / business / dati + persistenza locale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39" y="823648"/>
            <a:ext cx="11094415" cy="5788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5790895" y="9452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Livelli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053016" y="1664208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6"/>
          <p:cNvSpPr/>
          <p:nvPr/>
        </p:nvSpPr>
        <p:spPr>
          <a:xfrm>
            <a:off x="4053016" y="1664208"/>
            <a:ext cx="91440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4217608" y="177393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 JavaFX + FXML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217608" y="204825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Tab, tabelle, dialog, CSS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55487" y="2459211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1"/>
          <p:cNvSpPr/>
          <p:nvPr/>
        </p:nvSpPr>
        <p:spPr>
          <a:xfrm>
            <a:off x="4055487" y="2450067"/>
            <a:ext cx="914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4217608" y="252374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17608" y="2798064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Gestiscono eventi e validazione input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53016" y="3219785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9" name="Shape 16"/>
          <p:cNvSpPr/>
          <p:nvPr/>
        </p:nvSpPr>
        <p:spPr>
          <a:xfrm>
            <a:off x="4039518" y="3219785"/>
            <a:ext cx="91440" cy="6583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/>
          <p:nvPr/>
        </p:nvSpPr>
        <p:spPr>
          <a:xfrm>
            <a:off x="4217608" y="323697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213254" y="35112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Regole di business (prestiti, libri, </a:t>
            </a:r>
            <a:r>
              <a:rPr lang="en-US" sz="11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utenti</a:t>
            </a: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</a:p>
          <a:p>
            <a:r>
              <a:rPr lang="it-IT" sz="11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Intermediari che applicano la logica di business</a:t>
            </a:r>
            <a:endParaRPr lang="en-US" sz="11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4053016" y="3993735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1"/>
          <p:cNvSpPr/>
          <p:nvPr/>
        </p:nvSpPr>
        <p:spPr>
          <a:xfrm>
            <a:off x="4049309" y="3987804"/>
            <a:ext cx="91440" cy="6583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2"/>
          <p:cNvSpPr/>
          <p:nvPr/>
        </p:nvSpPr>
        <p:spPr>
          <a:xfrm>
            <a:off x="4188322" y="406858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213254" y="4322919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Sotto-archivi ordinati (TreeSet) + filtri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049309" y="4773941"/>
            <a:ext cx="4663440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6"/>
          <p:cNvSpPr/>
          <p:nvPr/>
        </p:nvSpPr>
        <p:spPr>
          <a:xfrm>
            <a:off x="4049309" y="4764797"/>
            <a:ext cx="91440" cy="6583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7"/>
          <p:cNvSpPr/>
          <p:nvPr/>
        </p:nvSpPr>
        <p:spPr>
          <a:xfrm>
            <a:off x="4213254" y="4841563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Modelli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217608" y="5047488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Libro / Utente / Prestito + StatoPrestito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034728" y="5909990"/>
            <a:ext cx="4663440" cy="50292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0"/>
          <p:cNvSpPr/>
          <p:nvPr/>
        </p:nvSpPr>
        <p:spPr>
          <a:xfrm>
            <a:off x="4213254" y="596819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Persistenza: file locale “archivio.dat” (serializzazione)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4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5/9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755359" y="2295144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4"/>
          <p:cNvSpPr/>
          <p:nvPr/>
        </p:nvSpPr>
        <p:spPr>
          <a:xfrm>
            <a:off x="7786724" y="3082857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9"/>
          <p:cNvSpPr/>
          <p:nvPr/>
        </p:nvSpPr>
        <p:spPr>
          <a:xfrm>
            <a:off x="7786724" y="3862954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4"/>
          <p:cNvSpPr/>
          <p:nvPr/>
        </p:nvSpPr>
        <p:spPr>
          <a:xfrm>
            <a:off x="7786724" y="4578951"/>
            <a:ext cx="274320" cy="219456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Shape 5">
            <a:extLst>
              <a:ext uri="{FF2B5EF4-FFF2-40B4-BE49-F238E27FC236}">
                <a16:creationId xmlns:a16="http://schemas.microsoft.com/office/drawing/2014/main" id="{F59DCF67-9A58-373A-A777-855A93A7EAEB}"/>
              </a:ext>
            </a:extLst>
          </p:cNvPr>
          <p:cNvSpPr/>
          <p:nvPr/>
        </p:nvSpPr>
        <p:spPr>
          <a:xfrm>
            <a:off x="972241" y="3221120"/>
            <a:ext cx="2748319" cy="658368"/>
          </a:xfrm>
          <a:prstGeom prst="roundRect">
            <a:avLst/>
          </a:prstGeom>
          <a:solidFill>
            <a:srgbClr val="0B1B36"/>
          </a:solidFill>
          <a:ln w="12700">
            <a:solidFill>
              <a:srgbClr val="174B5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C13461FF-50A0-5456-AC15-C04C59A893F9}"/>
              </a:ext>
            </a:extLst>
          </p:cNvPr>
          <p:cNvSpPr/>
          <p:nvPr/>
        </p:nvSpPr>
        <p:spPr>
          <a:xfrm>
            <a:off x="919772" y="3221120"/>
            <a:ext cx="91440" cy="658368"/>
          </a:xfrm>
          <a:prstGeom prst="rect">
            <a:avLst/>
          </a:prstGeom>
          <a:solidFill>
            <a:srgbClr val="174B51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14">
            <a:extLst>
              <a:ext uri="{FF2B5EF4-FFF2-40B4-BE49-F238E27FC236}">
                <a16:creationId xmlns:a16="http://schemas.microsoft.com/office/drawing/2014/main" id="{B3185EA6-E6AB-7DB8-9314-2A16DE3AD481}"/>
              </a:ext>
            </a:extLst>
          </p:cNvPr>
          <p:cNvSpPr/>
          <p:nvPr/>
        </p:nvSpPr>
        <p:spPr>
          <a:xfrm rot="5400000">
            <a:off x="3738173" y="3356558"/>
            <a:ext cx="274320" cy="360309"/>
          </a:xfrm>
          <a:prstGeom prst="downArrow">
            <a:avLst/>
          </a:prstGeom>
          <a:solidFill>
            <a:srgbClr val="23324A"/>
          </a:solidFill>
          <a:ln w="12700">
            <a:solidFill>
              <a:srgbClr val="2332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CDA802E0-2F24-8D11-C4E7-5D4FA364191F}"/>
              </a:ext>
            </a:extLst>
          </p:cNvPr>
          <p:cNvSpPr txBox="1"/>
          <p:nvPr/>
        </p:nvSpPr>
        <p:spPr>
          <a:xfrm>
            <a:off x="1093508" y="3221120"/>
            <a:ext cx="1223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</a:rPr>
              <a:t>Validatore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820ED4F-AA11-D86E-1BAF-358D7A8CFDEE}"/>
              </a:ext>
            </a:extLst>
          </p:cNvPr>
          <p:cNvSpPr txBox="1"/>
          <p:nvPr/>
        </p:nvSpPr>
        <p:spPr>
          <a:xfrm>
            <a:off x="1097862" y="3485397"/>
            <a:ext cx="2866767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</a:rPr>
              <a:t>Classe statica di utilità </a:t>
            </a:r>
          </a:p>
          <a:p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4B16758D-5C4C-34A3-5B14-B842453BC32B}"/>
              </a:ext>
            </a:extLst>
          </p:cNvPr>
          <p:cNvSpPr txBox="1"/>
          <p:nvPr/>
        </p:nvSpPr>
        <p:spPr>
          <a:xfrm>
            <a:off x="1011212" y="1658472"/>
            <a:ext cx="1877447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</a:rPr>
              <a:t>Coesione</a:t>
            </a:r>
            <a:br>
              <a:rPr lang="it-IT" dirty="0">
                <a:solidFill>
                  <a:schemeClr val="bg1"/>
                </a:solidFill>
              </a:rPr>
            </a:br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È alta nei controller di area e nei servizi specifici</a:t>
            </a:r>
          </a:p>
          <a:p>
            <a:endParaRPr lang="it-IT" dirty="0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F830385-DBBA-326E-8894-FCDB2DF9A7C4}"/>
              </a:ext>
            </a:extLst>
          </p:cNvPr>
          <p:cNvSpPr txBox="1"/>
          <p:nvPr/>
        </p:nvSpPr>
        <p:spPr>
          <a:xfrm>
            <a:off x="965492" y="4701786"/>
            <a:ext cx="2467602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  <a:latin typeface="Aptos Display" panose="020B0004020202020204" pitchFamily="34" charset="0"/>
                <a:cs typeface="Times New Roman" panose="02020603050405020304" pitchFamily="18" charset="0"/>
              </a:rPr>
              <a:t>Accoppiamento</a:t>
            </a:r>
            <a:br>
              <a:rPr lang="it-IT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100" dirty="0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L’accoppiamento più significativo si concentra nel </a:t>
            </a:r>
            <a:r>
              <a:rPr lang="it-IT" sz="1100" dirty="0" err="1">
                <a:solidFill>
                  <a:srgbClr val="8497B0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ControllerPrincipale</a:t>
            </a:r>
            <a:endParaRPr lang="it-IT" sz="1100" dirty="0">
              <a:solidFill>
                <a:srgbClr val="8497B0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Modello di dominio e regole di business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Libro, Utente, Prestito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classi (modelli)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/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Libro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503920" y="1610580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ISBN univoco, ordinamento per titolo.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Copie totali / </a:t>
            </a:r>
            <a:r>
              <a:rPr lang="en-US" sz="1200" dirty="0" err="1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</a:t>
            </a: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ed evita prestiti oltre disponibilità.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Blocco cancellazione se copie in prestito.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/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/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Utente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Identificato da matricola (+ email istituzionale).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3 prestiti attivi contemporanei.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Blocco cancellazione se prestiti attivi o in ritardo.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/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/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Prestito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Stati: IN_CORSO, IN_RITARDO, CONCLUSO.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Ordinamento per data prevista di restituzione.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Aggiornamento automatico dei ritardi.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/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6/9</a:t>
            </a:r>
            <a:endParaRPr lang="en-US" sz="1000" dirty="0"/>
          </a:p>
        </p:txBody>
      </p:sp>
      <p:pic>
        <p:nvPicPr>
          <p:cNvPr id="24" name="Immagine 2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3FF206C9-0A89-D221-6B63-B569A5AAA5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04" y="2278680"/>
            <a:ext cx="7368631" cy="3526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C0CDB-885B-F29D-7A0A-E3BE67E10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D830DB6-6899-93E9-7F62-5004AE6D7E1D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7EB606-189C-10D6-FBC7-42514D94DCF8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bg1"/>
                </a:solidFill>
              </a:rPr>
              <a:t>Archivio</a:t>
            </a:r>
            <a:endParaRPr lang="en-US" sz="2200" b="1" dirty="0">
              <a:solidFill>
                <a:schemeClr val="bg1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7259471-FC73-00E5-789B-4D6C2F7810B8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Sottoarchivio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InterfacciaSottoarchivio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B1DE55F1-3E89-C1BB-BAF8-B6239DC91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519743E5-E3C9-6F14-D4D6-BD89A7FE539E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53B56B0-E576-ED4F-7BAA-0B75D410DB7E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75C5A1A-61D2-5559-8D64-486FF70DDA91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8B87386-34B1-6A36-C00D-A14DDF17C5CA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39300B2-6264-9EB2-7048-262483FF0A33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  <a:latin typeface="Aptos Display" panose="020B0004020202020204" pitchFamily="34" charset="0"/>
              </a:rPr>
              <a:t>Archivio</a:t>
            </a:r>
            <a:endParaRPr lang="en-US" sz="16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11E6C08E-A4DC-912B-7036-8F2CF3F1572F}"/>
              </a:ext>
            </a:extLst>
          </p:cNvPr>
          <p:cNvSpPr/>
          <p:nvPr/>
        </p:nvSpPr>
        <p:spPr>
          <a:xfrm>
            <a:off x="8503920" y="1610580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Inizializza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tipi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sottoarchivi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e per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ognuno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essi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scrive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diversi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metodi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presenti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come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aggiungi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modifica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rimuovi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ecc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….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AF97BEC-F602-CDB8-C7B9-B88DF94FEC67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FAAAFDD2-6CC3-1AFC-7DBA-EA02D931703E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E1EFF6B5-5B68-4215-D398-990DE1B88230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Sottoarchivio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8ACB2730-C1B3-C65C-6D31-CC41625798DD}"/>
              </a:ext>
            </a:extLst>
          </p:cNvPr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Usa dei </a:t>
            </a:r>
            <a:r>
              <a:rPr lang="it-IT" sz="1200" dirty="0" err="1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Generics</a:t>
            </a: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 Java per evitare duplicazione di codice, quindi si usa un’unica logica per la gestione di libri, utenti e prestiti.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FE08D00-2F1E-9485-6C4E-318CF8FA5707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88AD0A0-C90C-0F93-4593-3DA225A089F3}"/>
              </a:ext>
            </a:extLst>
          </p:cNvPr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4D3FADA-D78C-A61E-5E57-520E24445194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</a:rPr>
              <a:t>InterfacciaSottoarchivio</a:t>
            </a:r>
            <a:endParaRPr lang="en-US" sz="160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F4930D73-8A0D-0CCB-5413-BA3164F6532A}"/>
              </a:ext>
            </a:extLst>
          </p:cNvPr>
          <p:cNvSpPr/>
          <p:nvPr/>
        </p:nvSpPr>
        <p:spPr>
          <a:xfrm>
            <a:off x="8458200" y="5159686"/>
            <a:ext cx="3064476" cy="10594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Sviluppa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metodi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astratti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poi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vengono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implementati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sottoarchivio</a:t>
            </a:r>
            <a:r>
              <a:rPr lang="en-US" sz="1600" dirty="0">
                <a:solidFill>
                  <a:schemeClr val="bg1"/>
                </a:solidFill>
                <a:latin typeface="Aptos" panose="020B0004020202020204" pitchFamily="34" charset="0"/>
                <a:cs typeface="Aparajita" panose="02020603050405020304" pitchFamily="18" charset="0"/>
              </a:rPr>
              <a:t>.</a:t>
            </a: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218FA06A-3E1A-892F-DA6F-4E1AA90FB80E}"/>
              </a:ext>
            </a:extLst>
          </p:cNvPr>
          <p:cNvSpPr/>
          <p:nvPr/>
        </p:nvSpPr>
        <p:spPr>
          <a:xfrm>
            <a:off x="9832" y="6639232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1E54255A-7F74-73B0-5CF7-72CED55CA56B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7/9</a:t>
            </a:r>
            <a:endParaRPr lang="en-US" sz="1000" dirty="0"/>
          </a:p>
        </p:txBody>
      </p:sp>
      <p:pic>
        <p:nvPicPr>
          <p:cNvPr id="24" name="Immagine 23" descr="Immagine che contiene testo, schermata, schermo, Carattere&#10;&#10;Il contenuto generato dall'IA potrebbe non essere corretto.">
            <a:extLst>
              <a:ext uri="{FF2B5EF4-FFF2-40B4-BE49-F238E27FC236}">
                <a16:creationId xmlns:a16="http://schemas.microsoft.com/office/drawing/2014/main" id="{4503501A-9C79-BC4F-6042-8020D4096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264" y="1716682"/>
            <a:ext cx="7020585" cy="4592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438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C69D7A-4EA4-0AFD-CE0D-7050D4685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9BCE06-0E85-4278-DE2E-B3ED2970356A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r>
              <a:rPr lang="it-IT" dirty="0"/>
              <a:t>++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FB95E82-38DF-4B6A-5FE1-211CCF8C5BBD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ptos Display" panose="020B0004020202020204" pitchFamily="34" charset="0"/>
              </a:rPr>
              <a:t>Servizi</a:t>
            </a:r>
            <a:endParaRPr lang="en-US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818303F-55D9-360B-B513-05477CE819BF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ServizioArchivio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ServizioGenerici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Validatore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96742B04-CC3C-198C-C2BD-3A4CAE08E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A2EDDD0B-B5BF-575D-FE42-C6D866355652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59960D2-AAD4-2A9C-3950-BE9619A076ED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1B42D58D-6D56-5BD8-D5BE-C4755A41990C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B8380F3E-B9BB-95CB-D1D5-E465413B2E0E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66F23A8-8F97-5063-18FE-59DF8C6C84C8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ServizioArchivio</a:t>
            </a:r>
            <a:endParaRPr lang="en-US" sz="16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E36655FD-F4BE-C437-C674-40FCEBC1178C}"/>
              </a:ext>
            </a:extLst>
          </p:cNvPr>
          <p:cNvSpPr/>
          <p:nvPr/>
        </p:nvSpPr>
        <p:spPr>
          <a:xfrm>
            <a:off x="8503920" y="1610579"/>
            <a:ext cx="2819095" cy="1038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</a:rPr>
              <a:t>Salvataggio dell'intero stato (Mappa di Liste) su file binario locale.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</a:rPr>
              <a:t>Si occupa dei vari aggiornamenti e salvataggi presenti nel programma.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B4B4FF7-5D8C-12DD-57EE-3CA8AC4548AB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815A0C52-AD54-C42A-A18C-56DCE90962E4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8E26F96B-9E29-F992-6CC9-B4691D655A4D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ServizioGenerico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45E9DC8F-3EB1-3055-CEBF-F17545CAD0F1}"/>
              </a:ext>
            </a:extLst>
          </p:cNvPr>
          <p:cNvSpPr/>
          <p:nvPr/>
        </p:nvSpPr>
        <p:spPr>
          <a:xfrm>
            <a:off x="8503920" y="3465576"/>
            <a:ext cx="28190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Gli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altri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Servizi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possono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vedere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diagramma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delle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classi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     (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ServizioLibri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ServizioPrestiti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).</a:t>
            </a: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FC9753AA-ECDF-C145-B2C3-9F6DE5915347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985DE17-D305-6E86-8660-BF5381DA21E4}"/>
              </a:ext>
            </a:extLst>
          </p:cNvPr>
          <p:cNvSpPr/>
          <p:nvPr/>
        </p:nvSpPr>
        <p:spPr>
          <a:xfrm>
            <a:off x="8183878" y="4688400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026508CB-65B7-93D2-A0EA-94381D8B1FB3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Validatore</a:t>
            </a:r>
            <a:endParaRPr lang="en-US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BF509E42-F60A-1055-5D19-21CA7EE3F551}"/>
              </a:ext>
            </a:extLst>
          </p:cNvPr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</a:rPr>
              <a:t>Classe statica di utilità 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38C1FB50-7EAE-774C-ADED-C6F81EBF7E22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04512EAA-283D-35E4-DECD-AFBCDCFC3361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8/9</a:t>
            </a:r>
            <a:endParaRPr lang="en-US" sz="1000" dirty="0"/>
          </a:p>
        </p:txBody>
      </p:sp>
      <p:pic>
        <p:nvPicPr>
          <p:cNvPr id="24" name="Immagine 23" descr="Immagine che contiene testo, line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C25C7F02-ECC3-F579-80E1-52EA3337A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40" y="2387945"/>
            <a:ext cx="7395077" cy="271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50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95054-C7AF-D32E-B0C1-284020DF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A81F2C-3980-9E70-A95D-7316497E8F62}"/>
              </a:ext>
            </a:extLst>
          </p:cNvPr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r>
              <a:rPr lang="it-IT" dirty="0"/>
              <a:t>++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9A40692-64BC-F976-C059-A37F6092BDB9}"/>
              </a:ext>
            </a:extLst>
          </p:cNvPr>
          <p:cNvSpPr/>
          <p:nvPr/>
        </p:nvSpPr>
        <p:spPr>
          <a:xfrm>
            <a:off x="548640" y="100584"/>
            <a:ext cx="99971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ptos Display" panose="020B0004020202020204" pitchFamily="34" charset="0"/>
              </a:rPr>
              <a:t>Controller</a:t>
            </a:r>
            <a:endParaRPr lang="en-US" sz="2200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2314FE-B648-859A-0AA3-05FB38FD1303}"/>
              </a:ext>
            </a:extLst>
          </p:cNvPr>
          <p:cNvSpPr/>
          <p:nvPr/>
        </p:nvSpPr>
        <p:spPr>
          <a:xfrm>
            <a:off x="548640" y="384048"/>
            <a:ext cx="99971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Entità principali: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ControllerPrincipale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ControllerSecodari</a:t>
            </a: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ControllerDashboard</a:t>
            </a:r>
            <a:endParaRPr lang="en-US" sz="1200" dirty="0"/>
          </a:p>
        </p:txBody>
      </p:sp>
      <p:pic>
        <p:nvPicPr>
          <p:cNvPr id="5" name="Image 0" descr="/mnt/data/bibliosoft/bibliosoft/src/main/resources/img/icona_bibliosoft.png">
            <a:extLst>
              <a:ext uri="{FF2B5EF4-FFF2-40B4-BE49-F238E27FC236}">
                <a16:creationId xmlns:a16="http://schemas.microsoft.com/office/drawing/2014/main" id="{9707B960-7C95-4F46-043C-22862F381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73152"/>
            <a:ext cx="566928" cy="566928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67F50CEB-7B7A-1BF1-D5B6-D99C9A77D5D2}"/>
              </a:ext>
            </a:extLst>
          </p:cNvPr>
          <p:cNvSpPr/>
          <p:nvPr/>
        </p:nvSpPr>
        <p:spPr>
          <a:xfrm>
            <a:off x="548640" y="1161288"/>
            <a:ext cx="7406640" cy="5440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1CBBAAE-7D7B-03F2-B921-730DFB3BBCA2}"/>
              </a:ext>
            </a:extLst>
          </p:cNvPr>
          <p:cNvSpPr/>
          <p:nvPr/>
        </p:nvSpPr>
        <p:spPr>
          <a:xfrm>
            <a:off x="868680" y="1344168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Diagramma </a:t>
            </a:r>
            <a:r>
              <a:rPr lang="en-US" sz="16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</a:t>
            </a: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(controller)</a:t>
            </a:r>
            <a:endParaRPr lang="en-US" sz="16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9390AB1-3077-CAC5-BCFC-5D179E615908}"/>
              </a:ext>
            </a:extLst>
          </p:cNvPr>
          <p:cNvSpPr/>
          <p:nvPr/>
        </p:nvSpPr>
        <p:spPr>
          <a:xfrm>
            <a:off x="8183880" y="1161288"/>
            <a:ext cx="3459175" cy="1728216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E0A15E6-64CF-E5C8-A28A-E7A0D8AE44A9}"/>
              </a:ext>
            </a:extLst>
          </p:cNvPr>
          <p:cNvSpPr/>
          <p:nvPr/>
        </p:nvSpPr>
        <p:spPr>
          <a:xfrm>
            <a:off x="8183880" y="1161288"/>
            <a:ext cx="3459175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596EFF2B-7C12-3EC0-C53B-BC7D6C259A1F}"/>
              </a:ext>
            </a:extLst>
          </p:cNvPr>
          <p:cNvSpPr/>
          <p:nvPr/>
        </p:nvSpPr>
        <p:spPr>
          <a:xfrm>
            <a:off x="8458200" y="132588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</a:rPr>
              <a:t>ControllerPrincipale</a:t>
            </a:r>
            <a:endParaRPr lang="en-US" sz="16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8CDFF80F-6D41-F1A9-5EE2-8CC462697672}"/>
              </a:ext>
            </a:extLst>
          </p:cNvPr>
          <p:cNvSpPr/>
          <p:nvPr/>
        </p:nvSpPr>
        <p:spPr>
          <a:xfrm>
            <a:off x="8503920" y="1610579"/>
            <a:ext cx="2819095" cy="1038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è un punto di snodo per la navigazione e l’inizializzazione servizi.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200" dirty="0">
              <a:solidFill>
                <a:schemeClr val="bg1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l’accoppiamento più significativo si concentra lì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BEEF39F-4DD2-83F0-30DF-5F3CB863FB53}"/>
              </a:ext>
            </a:extLst>
          </p:cNvPr>
          <p:cNvSpPr/>
          <p:nvPr/>
        </p:nvSpPr>
        <p:spPr>
          <a:xfrm>
            <a:off x="8183880" y="2898648"/>
            <a:ext cx="3459175" cy="1691640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CBAED25-5701-304A-AFBC-5EE55A412063}"/>
              </a:ext>
            </a:extLst>
          </p:cNvPr>
          <p:cNvSpPr/>
          <p:nvPr/>
        </p:nvSpPr>
        <p:spPr>
          <a:xfrm>
            <a:off x="8183880" y="2898648"/>
            <a:ext cx="3459175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231464F5-C89B-8657-9A56-2C2DBFB09E4C}"/>
              </a:ext>
            </a:extLst>
          </p:cNvPr>
          <p:cNvSpPr/>
          <p:nvPr/>
        </p:nvSpPr>
        <p:spPr>
          <a:xfrm>
            <a:off x="8458200" y="30632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ControllerSecondari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CC4DC361-E524-C71A-5E60-D678D483255E}"/>
              </a:ext>
            </a:extLst>
          </p:cNvPr>
          <p:cNvSpPr/>
          <p:nvPr/>
        </p:nvSpPr>
        <p:spPr>
          <a:xfrm>
            <a:off x="8458200" y="3383280"/>
            <a:ext cx="328071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Gli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altri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tre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Controller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possono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vedere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nel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diagramma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delle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classi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     (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ControllerLibri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ControllerPrestiti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).</a:t>
            </a:r>
          </a:p>
          <a:p>
            <a:pPr marL="228600" indent="-228600">
              <a:spcAft>
                <a:spcPts val="400"/>
              </a:spcAft>
              <a:buSzPct val="100000"/>
              <a:buFontTx/>
              <a:buChar char="•"/>
            </a:pPr>
            <a:r>
              <a:rPr lang="it-IT" sz="12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Gestione eventi interfaccia utente e sincronizzazione con i dati</a:t>
            </a:r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endParaRPr lang="en-US" sz="1200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55D2E17-28C2-711D-1C59-DFFF8DBA4873}"/>
              </a:ext>
            </a:extLst>
          </p:cNvPr>
          <p:cNvSpPr/>
          <p:nvPr/>
        </p:nvSpPr>
        <p:spPr>
          <a:xfrm>
            <a:off x="8183879" y="4681728"/>
            <a:ext cx="3459175" cy="1792224"/>
          </a:xfrm>
          <a:prstGeom prst="roundRect">
            <a:avLst/>
          </a:prstGeom>
          <a:solidFill>
            <a:srgbClr val="0B1327"/>
          </a:solidFill>
          <a:ln w="12700">
            <a:solidFill>
              <a:srgbClr val="23324A"/>
            </a:solidFill>
            <a:prstDash val="solid"/>
          </a:ln>
          <a:effectLst>
            <a:outerShdw blurRad="38100" dist="254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7E47C101-2170-2FB6-7E30-3EB2C71EB6B7}"/>
              </a:ext>
            </a:extLst>
          </p:cNvPr>
          <p:cNvSpPr/>
          <p:nvPr/>
        </p:nvSpPr>
        <p:spPr>
          <a:xfrm>
            <a:off x="8183880" y="4727448"/>
            <a:ext cx="3459175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6877849F-FE7B-C21D-3AE6-D1B17DFF5D88}"/>
              </a:ext>
            </a:extLst>
          </p:cNvPr>
          <p:cNvSpPr/>
          <p:nvPr/>
        </p:nvSpPr>
        <p:spPr>
          <a:xfrm>
            <a:off x="8458200" y="4892040"/>
            <a:ext cx="2910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  <a:latin typeface="Aptos Display" panose="020B0004020202020204" pitchFamily="34" charset="0"/>
              </a:rPr>
              <a:t>ControllerDashboard</a:t>
            </a:r>
            <a:endParaRPr lang="en-US" b="1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7BF4141D-572C-329E-C7A9-A86837AC67A8}"/>
              </a:ext>
            </a:extLst>
          </p:cNvPr>
          <p:cNvSpPr/>
          <p:nvPr/>
        </p:nvSpPr>
        <p:spPr>
          <a:xfrm>
            <a:off x="8458200" y="5159687"/>
            <a:ext cx="2819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Controller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occupa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mostrare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a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schermo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le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statistiche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 di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utenti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, libri e </a:t>
            </a:r>
            <a:r>
              <a:rPr lang="en-US" sz="1200" dirty="0" err="1">
                <a:solidFill>
                  <a:schemeClr val="bg1"/>
                </a:solidFill>
                <a:latin typeface="Aptos" panose="020B0004020202020204" pitchFamily="34" charset="0"/>
              </a:rPr>
              <a:t>prestiti</a:t>
            </a:r>
            <a:r>
              <a:rPr lang="en-US" sz="1200" dirty="0">
                <a:solidFill>
                  <a:schemeClr val="bg1"/>
                </a:solidFill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1AC523F5-2862-DC7A-3588-349F1BE3B4D0}"/>
              </a:ext>
            </a:extLst>
          </p:cNvPr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22B0F51-162C-820F-2D09-9D5FF600AB96}"/>
              </a:ext>
            </a:extLst>
          </p:cNvPr>
          <p:cNvSpPr/>
          <p:nvPr/>
        </p:nvSpPr>
        <p:spPr>
          <a:xfrm>
            <a:off x="548640" y="6656832"/>
            <a:ext cx="1109441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Bibliosoft • 9/9</a:t>
            </a:r>
            <a:endParaRPr lang="en-US" sz="1000" dirty="0"/>
          </a:p>
        </p:txBody>
      </p:sp>
      <p:pic>
        <p:nvPicPr>
          <p:cNvPr id="29" name="Immagine 28" descr="Immagine che contiene testo, schermata, numero, diagramma&#10;&#10;Il contenuto generato dall'IA potrebbe non essere corretto.">
            <a:extLst>
              <a:ext uri="{FF2B5EF4-FFF2-40B4-BE49-F238E27FC236}">
                <a16:creationId xmlns:a16="http://schemas.microsoft.com/office/drawing/2014/main" id="{D8E857E2-A7E9-7D83-3564-D2FAE3BD5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310581"/>
            <a:ext cx="7360919" cy="3687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247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773</Words>
  <Application>Microsoft Office PowerPoint</Application>
  <PresentationFormat>Widescreen</PresentationFormat>
  <Paragraphs>136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Segoe UI Variable Display Light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Bibliosoft (auto-generated)</dc:creator>
  <cp:lastModifiedBy>Franco Graziuso</cp:lastModifiedBy>
  <cp:revision>4</cp:revision>
  <dcterms:created xsi:type="dcterms:W3CDTF">2025-12-14T16:51:29Z</dcterms:created>
  <dcterms:modified xsi:type="dcterms:W3CDTF">2025-12-15T15:00:05Z</dcterms:modified>
</cp:coreProperties>
</file>